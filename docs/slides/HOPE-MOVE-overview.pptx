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150" b="1">
                <a:solidFill>
                  <a:srgbClr val="171A1F"/>
                </a:solidFill>
                <a:latin typeface="Segoe UI"/>
              </a:rPr>
              <a:t>Reply quality (BERTScore): forum-trained roster (n=1,228)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BERTScore</c:v>
                </c:pt>
              </c:strCache>
            </c:strRef>
          </c:tx>
          <c:spPr>
            <a:solidFill>
              <a:srgbClr val="C9CED6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6FD6"/>
              </a:solidFill>
            </c:spPr>
            <c:extLst>
              <c:ext xmlns:c16="http://schemas.microsoft.com/office/drawing/2014/chart" uri="{C3380CC4-5D6E-409C-BE32-E72D297353CC}">
                <c16:uniqueId val="{00000001-98FE-49FA-9D40-5FAF0452462C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8FE-49FA-9D40-5FAF0452462C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8FE-49FA-9D40-5FAF0452462C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98FE-49FA-9D40-5FAF0452462C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98FE-49FA-9D40-5FAF0452462C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98FE-49FA-9D40-5FAF0452462C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3A3D42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Qwen3.5-4B</c:v>
                </c:pt>
                <c:pt idx="1">
                  <c:v>Qwen3-4B</c:v>
                </c:pt>
                <c:pt idx="2">
                  <c:v>Qwen3-8B</c:v>
                </c:pt>
                <c:pt idx="3">
                  <c:v>Qwen3-1.7B</c:v>
                </c:pt>
                <c:pt idx="4">
                  <c:v>Qwen3-0.6B</c:v>
                </c:pt>
                <c:pt idx="5">
                  <c:v>Gemma-4-E4B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0.87290000000000001</c:v>
                </c:pt>
                <c:pt idx="1">
                  <c:v>0.87190000000000001</c:v>
                </c:pt>
                <c:pt idx="2">
                  <c:v>0.871</c:v>
                </c:pt>
                <c:pt idx="3">
                  <c:v>0.87070000000000003</c:v>
                </c:pt>
                <c:pt idx="4">
                  <c:v>0.87</c:v>
                </c:pt>
                <c:pt idx="5">
                  <c:v>0.84519999999999995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98FE-49FA-9D40-5FAF045246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8"/>
          <c:min val="0.8"/>
        </c:scaling>
        <c:delete val="0"/>
        <c:axPos val="l"/>
        <c:majorGridlines>
          <c:spPr>
            <a:ln>
              <a:solidFill>
                <a:srgbClr val="ECE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71A1F"/>
                </a:solidFill>
                <a:latin typeface="Segoe UI"/>
              </a:rPr>
              <a:t>AI Facilitator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647" y="3246120"/>
            <a:ext cx="914400" cy="4445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3520440"/>
            <a:ext cx="90827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3767C"/>
                </a:solidFill>
                <a:latin typeface="Segoe UI"/>
              </a:rPr>
              <a:t>Helping facilitators spot who needs them, and reply with warmth,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434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3767C"/>
                </a:solidFill>
                <a:latin typeface="Segoe UI"/>
              </a:rPr>
              <a:t>HOPE-MOVE  ·  People living with IIH 2025</a:t>
            </a:r>
          </a:p>
        </p:txBody>
      </p:sp>
      <p:pic>
        <p:nvPicPr>
          <p:cNvPr id="7" name="Picture 6" descr="logo-innovate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32" y="5257800"/>
            <a:ext cx="1703671" cy="548640"/>
          </a:xfrm>
          <a:prstGeom prst="rect">
            <a:avLst/>
          </a:prstGeom>
        </p:spPr>
      </p:pic>
      <p:pic>
        <p:nvPicPr>
          <p:cNvPr id="8" name="Picture 7" descr="logo-h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371" y="5257800"/>
            <a:ext cx="1297208" cy="548640"/>
          </a:xfrm>
          <a:prstGeom prst="rect">
            <a:avLst/>
          </a:prstGeom>
        </p:spPr>
      </p:pic>
      <p:pic>
        <p:nvPicPr>
          <p:cNvPr id="9" name="Picture 8" descr="logo-coven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947" y="5257800"/>
            <a:ext cx="1925415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Why we built it and 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3385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627632"/>
            <a:ext cx="1076523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A3D42"/>
                </a:solidFill>
                <a:latin typeface="Segoe UI"/>
              </a:rPr>
              <a:t>People living with long-term conditions can </a:t>
            </a:r>
            <a:r>
              <a:rPr sz="1800" b="1">
                <a:solidFill>
                  <a:srgbClr val="1F4E9B"/>
                </a:solidFill>
                <a:latin typeface="Segoe UI"/>
              </a:rPr>
              <a:t>quietly disengage</a:t>
            </a:r>
            <a:r>
              <a:rPr sz="1800" b="0">
                <a:solidFill>
                  <a:srgbClr val="3A3D42"/>
                </a:solidFill>
                <a:latin typeface="Segoe UI"/>
              </a:rPr>
              <a:t> between sessions; about </a:t>
            </a:r>
            <a:r>
              <a:rPr sz="1800" b="1">
                <a:solidFill>
                  <a:srgbClr val="1F4E9B"/>
                </a:solidFill>
                <a:latin typeface="Segoe UI"/>
              </a:rPr>
              <a:t>1 in 4 drop out</a:t>
            </a:r>
            <a:r>
              <a:rPr sz="1800" b="0">
                <a:solidFill>
                  <a:srgbClr val="3A3D42"/>
                </a:solidFill>
                <a:latin typeface="Segoe UI"/>
              </a:rPr>
              <a:t>, most going quiet in the </a:t>
            </a:r>
            <a:r>
              <a:rPr sz="1800" b="1">
                <a:solidFill>
                  <a:srgbClr val="1F4E9B"/>
                </a:solidFill>
                <a:latin typeface="Segoe UI"/>
              </a:rPr>
              <a:t>first week</a:t>
            </a:r>
            <a:r>
              <a:rPr sz="1800" b="0">
                <a:solidFill>
                  <a:srgbClr val="3A3D42"/>
                </a:solidFill>
                <a:latin typeface="Segoe UI"/>
              </a:rPr>
              <a:t>. No facilitator can watch everyone, every week.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788920"/>
            <a:ext cx="5154015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01168" bIns="164592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3767C"/>
                </a:solidFill>
                <a:latin typeface="Segoe UI"/>
              </a:rPr>
              <a:t>1 · SPOT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50" b="1">
                <a:solidFill>
                  <a:srgbClr val="171A1F"/>
                </a:solidFill>
                <a:latin typeface="Segoe UI"/>
              </a:rPr>
              <a:t>Who needs attention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D42"/>
                </a:solidFill>
                <a:latin typeface="Segoe UI"/>
              </a:rPr>
              <a:t>Every participant, </a:t>
            </a:r>
            <a:r>
              <a:rPr sz="1450" b="1">
                <a:solidFill>
                  <a:srgbClr val="1F4E9B"/>
                </a:solidFill>
                <a:latin typeface="Segoe UI"/>
              </a:rPr>
              <a:t>ranked each week</a:t>
            </a:r>
            <a:r>
              <a:rPr sz="1450" b="0">
                <a:solidFill>
                  <a:srgbClr val="3A3D42"/>
                </a:solidFill>
                <a:latin typeface="Segoe UI"/>
              </a:rPr>
              <a:t>, with the plain-language reasons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935224"/>
            <a:ext cx="68580" cy="1810512"/>
          </a:xfrm>
          <a:prstGeom prst="round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24447" y="2788920"/>
            <a:ext cx="5154015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01168" bIns="164592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3767C"/>
                </a:solidFill>
                <a:latin typeface="Segoe UI"/>
              </a:rPr>
              <a:t>2 · SUPPORT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50" b="1">
                <a:solidFill>
                  <a:srgbClr val="171A1F"/>
                </a:solidFill>
                <a:latin typeface="Segoe UI"/>
              </a:rPr>
              <a:t>A warm draft reply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D42"/>
                </a:solidFill>
                <a:latin typeface="Segoe UI"/>
              </a:rPr>
              <a:t>A ready-to-send message in the programme's voice: </a:t>
            </a:r>
            <a:r>
              <a:rPr sz="1450" b="1">
                <a:solidFill>
                  <a:srgbClr val="1F4E9B"/>
                </a:solidFill>
                <a:latin typeface="Segoe UI"/>
              </a:rPr>
              <a:t>you review, edit, and send.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935224"/>
            <a:ext cx="68580" cy="1810512"/>
          </a:xfrm>
          <a:prstGeom prst="round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5120640"/>
            <a:ext cx="10765231" cy="731520"/>
          </a:xfrm>
          <a:prstGeom prst="roundRect">
            <a:avLst>
              <a:gd name="adj" fmla="val 9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54864" rIns="237744" bIns="54864" rtlCol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F4E9B"/>
                </a:solidFill>
                <a:latin typeface="Segoe UI"/>
              </a:rPr>
              <a:t>It </a:t>
            </a:r>
            <a:r>
              <a:rPr sz="1650" b="1">
                <a:solidFill>
                  <a:srgbClr val="1F4E9B"/>
                </a:solidFill>
                <a:latin typeface="Segoe UI"/>
              </a:rPr>
              <a:t>surfaces and suggests</a:t>
            </a:r>
            <a:r>
              <a:rPr sz="1650" b="0">
                <a:solidFill>
                  <a:srgbClr val="1F4E9B"/>
                </a:solidFill>
                <a:latin typeface="Segoe UI"/>
              </a:rPr>
              <a:t>. You </a:t>
            </a:r>
            <a:r>
              <a:rPr sz="1650" b="1">
                <a:solidFill>
                  <a:srgbClr val="1F4E9B"/>
                </a:solidFill>
                <a:latin typeface="Segoe UI"/>
              </a:rPr>
              <a:t>decide and send</a:t>
            </a:r>
            <a:r>
              <a:rPr sz="1650" b="0">
                <a:solidFill>
                  <a:srgbClr val="1F4E9B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One place to see your whole cohort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3385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46531" y="1627632"/>
            <a:ext cx="5498633" cy="4343400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0" y="1627632"/>
            <a:ext cx="734059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172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3767C"/>
                </a:solidFill>
                <a:latin typeface="Segoe UI"/>
              </a:rPr>
              <a:t>Follow-up queue  ·  participant detail  ·  AI outreach, in a single weekly view (live data).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9B"/>
                </a:solidFill>
                <a:latin typeface="Segoe UI"/>
              </a:rPr>
              <a:t>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See who needs you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783080"/>
            <a:ext cx="5760720" cy="3970225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760720" cy="3970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9712" y="1874519"/>
            <a:ext cx="4863338" cy="1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 dirty="0">
                <a:solidFill>
                  <a:srgbClr val="1F4E9B"/>
                </a:solidFill>
                <a:latin typeface="Segoe UI"/>
              </a:rPr>
              <a:t>•   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Everyone </a:t>
            </a:r>
            <a:r>
              <a:rPr sz="1800" b="1" dirty="0">
                <a:solidFill>
                  <a:srgbClr val="1F4E9B"/>
                </a:solidFill>
                <a:latin typeface="Segoe UI"/>
              </a:rPr>
              <a:t>ranked each week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: Needs attention · Check in soon · On track.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 dirty="0">
                <a:solidFill>
                  <a:srgbClr val="1F4E9B"/>
                </a:solidFill>
                <a:latin typeface="Segoe UI"/>
              </a:rPr>
              <a:t>•   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A clear </a:t>
            </a:r>
            <a:r>
              <a:rPr sz="1800" b="1" dirty="0">
                <a:solidFill>
                  <a:srgbClr val="1F4E9B"/>
                </a:solidFill>
                <a:latin typeface="Segoe UI"/>
              </a:rPr>
              <a:t>risk score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 with the </a:t>
            </a:r>
            <a:r>
              <a:rPr sz="1800" b="1" dirty="0">
                <a:solidFill>
                  <a:srgbClr val="1F4E9B"/>
                </a:solidFill>
                <a:latin typeface="Segoe UI"/>
              </a:rPr>
              <a:t>reasons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 behind it.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 dirty="0">
                <a:solidFill>
                  <a:srgbClr val="1F4E9B"/>
                </a:solidFill>
                <a:latin typeface="Segoe UI"/>
              </a:rPr>
              <a:t>•   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A </a:t>
            </a:r>
            <a:r>
              <a:rPr sz="1800" b="1" dirty="0">
                <a:solidFill>
                  <a:srgbClr val="1F4E9B"/>
                </a:solidFill>
                <a:latin typeface="Segoe UI"/>
              </a:rPr>
              <a:t>recommended approach</a:t>
            </a:r>
            <a:r>
              <a:rPr sz="1800" b="0" dirty="0">
                <a:solidFill>
                  <a:srgbClr val="3A3D42"/>
                </a:solidFill>
                <a:latin typeface="Segoe UI"/>
              </a:rPr>
              <a:t> and wellbeing cue for outreach.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9712" y="5029200"/>
            <a:ext cx="4638751" cy="868680"/>
          </a:xfrm>
          <a:prstGeom prst="roundRect">
            <a:avLst>
              <a:gd name="adj" fmla="val 9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54864" rIns="237744" bIns="54864" rtlCol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4E9B"/>
                </a:solidFill>
                <a:latin typeface="Segoe UI"/>
              </a:rPr>
              <a:t>Risk comes from a </a:t>
            </a:r>
            <a:r>
              <a:rPr sz="1500" b="1">
                <a:solidFill>
                  <a:srgbClr val="1F4E9B"/>
                </a:solidFill>
                <a:latin typeface="Segoe UI"/>
              </a:rPr>
              <a:t>Random Forest</a:t>
            </a:r>
            <a:r>
              <a:rPr sz="1500" b="0">
                <a:solidFill>
                  <a:srgbClr val="1F4E9B"/>
                </a:solidFill>
                <a:latin typeface="Segoe UI"/>
              </a:rPr>
              <a:t> model, shown in plain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9B"/>
                </a:solidFill>
                <a:latin typeface="Segoe UI"/>
              </a:rPr>
              <a:t>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Reply with warmth, faster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288628" cy="4297680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-out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37360"/>
            <a:ext cx="228862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5072" y="1828800"/>
            <a:ext cx="7473391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>
                <a:solidFill>
                  <a:srgbClr val="1F4E9B"/>
                </a:solidFill>
                <a:latin typeface="Segoe UI"/>
              </a:rPr>
              <a:t>•   Three warm tones</a:t>
            </a:r>
            <a:r>
              <a:rPr sz="1800" b="0">
                <a:solidFill>
                  <a:srgbClr val="3A3D42"/>
                </a:solidFill>
                <a:latin typeface="Segoe UI"/>
              </a:rPr>
              <a:t>, drafted from the participant's own post.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800" b="0">
                <a:solidFill>
                  <a:srgbClr val="3A3D42"/>
                </a:solidFill>
                <a:latin typeface="Segoe UI"/>
              </a:rPr>
              <a:t>Written by a </a:t>
            </a:r>
            <a:r>
              <a:rPr sz="1800" b="1">
                <a:solidFill>
                  <a:srgbClr val="1F4E9B"/>
                </a:solidFill>
                <a:latin typeface="Segoe UI"/>
              </a:rPr>
              <a:t>fine-tuned small language model</a:t>
            </a:r>
            <a:r>
              <a:rPr sz="1800" b="0">
                <a:solidFill>
                  <a:srgbClr val="3A3D42"/>
                </a:solidFill>
                <a:latin typeface="Segoe UI"/>
              </a:rPr>
              <a:t> (here, Qwen3).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>
                <a:solidFill>
                  <a:srgbClr val="1F4E9B"/>
                </a:solidFill>
                <a:latin typeface="Segoe UI"/>
              </a:rPr>
              <a:t>•   Edit, polish, send</a:t>
            </a:r>
            <a:r>
              <a:rPr sz="1800" b="0">
                <a:solidFill>
                  <a:srgbClr val="3A3D42"/>
                </a:solidFill>
                <a:latin typeface="Segoe UI"/>
              </a:rPr>
              <a:t>: always your words, your call.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80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800" b="0">
                <a:solidFill>
                  <a:srgbClr val="3A3D42"/>
                </a:solidFill>
                <a:latin typeface="Segoe UI"/>
              </a:rPr>
              <a:t>Your </a:t>
            </a:r>
            <a:r>
              <a:rPr sz="1800" b="1">
                <a:solidFill>
                  <a:srgbClr val="1F4E9B"/>
                </a:solidFill>
                <a:latin typeface="Segoe UI"/>
              </a:rPr>
              <a:t>feedback</a:t>
            </a:r>
            <a:r>
              <a:rPr sz="1800" b="0">
                <a:solidFill>
                  <a:srgbClr val="3A3D42"/>
                </a:solidFill>
                <a:latin typeface="Segoe UI"/>
              </a:rPr>
              <a:t> (kept / edited / rejected) trains better drafts.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5072" y="5349240"/>
            <a:ext cx="7473391" cy="731520"/>
          </a:xfrm>
          <a:prstGeom prst="roundRect">
            <a:avLst>
              <a:gd name="adj" fmla="val 9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54864" rIns="237744" bIns="54864" rtlCol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F4E9B"/>
                </a:solidFill>
                <a:latin typeface="Segoe UI"/>
              </a:rPr>
              <a:t>The draft is a </a:t>
            </a:r>
            <a:r>
              <a:rPr sz="1550" b="1">
                <a:solidFill>
                  <a:srgbClr val="1F4E9B"/>
                </a:solidFill>
                <a:latin typeface="Segoe UI"/>
              </a:rPr>
              <a:t>starting point</a:t>
            </a:r>
            <a:r>
              <a:rPr sz="1550" b="0">
                <a:solidFill>
                  <a:srgbClr val="1F4E9B"/>
                </a:solidFill>
                <a:latin typeface="Segoe UI"/>
              </a:rPr>
              <a:t>, never sent on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How it fits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3385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33164"/>
            <a:ext cx="6812280" cy="3740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45552" y="1783080"/>
            <a:ext cx="3632911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550" b="1">
                <a:solidFill>
                  <a:srgbClr val="1F4E9B"/>
                </a:solidFill>
                <a:latin typeface="Segoe UI"/>
              </a:rPr>
              <a:t>•   Risk engine</a:t>
            </a:r>
            <a:r>
              <a:rPr sz="1550" b="0">
                <a:solidFill>
                  <a:srgbClr val="3A3D42"/>
                </a:solidFill>
                <a:latin typeface="Segoe UI"/>
              </a:rPr>
              <a:t> (engagement_ml): predicts weekly dropout with a Random Forest, ~0.93–0.95 AUC.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550" b="1">
                <a:solidFill>
                  <a:srgbClr val="1F4E9B"/>
                </a:solidFill>
                <a:latin typeface="Segoe UI"/>
              </a:rPr>
              <a:t>•   Drafting engine</a:t>
            </a:r>
            <a:r>
              <a:rPr sz="1550" b="0">
                <a:solidFill>
                  <a:srgbClr val="3A3D42"/>
                </a:solidFill>
                <a:latin typeface="Segoe UI"/>
              </a:rPr>
              <a:t> (comment_generation): a fine-tuned small language model trained on real Hope replies.</a:t>
            </a:r>
          </a:p>
          <a:p>
            <a:pPr>
              <a:lnSpc>
                <a:spcPct val="113000"/>
              </a:lnSpc>
              <a:spcAft>
                <a:spcPts val="1500"/>
              </a:spcAft>
            </a:pPr>
            <a:r>
              <a:rPr sz="1550" b="1">
                <a:solidFill>
                  <a:srgbClr val="1F4E9B"/>
                </a:solidFill>
                <a:latin typeface="Segoe UI"/>
              </a:rPr>
              <a:t>•   Safe by design:</a:t>
            </a:r>
            <a:r>
              <a:rPr sz="1550" b="0">
                <a:solidFill>
                  <a:srgbClr val="3A3D42"/>
                </a:solidFill>
                <a:latin typeface="Segoe UI"/>
              </a:rPr>
              <a:t> anonymised · private (secrets server-side) · safety layer · nothing sent without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5552" y="5486400"/>
            <a:ext cx="3632911" cy="777240"/>
          </a:xfrm>
          <a:prstGeom prst="roundRect">
            <a:avLst>
              <a:gd name="adj" fmla="val 9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54864" rIns="237744" bIns="54864" rtlCol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4E9B"/>
                </a:solidFill>
                <a:latin typeface="Segoe UI"/>
              </a:rPr>
              <a:t>Both produce </a:t>
            </a:r>
            <a:r>
              <a:rPr sz="1400" b="1">
                <a:solidFill>
                  <a:srgbClr val="1F4E9B"/>
                </a:solidFill>
                <a:latin typeface="Segoe UI"/>
              </a:rPr>
              <a:t>suggestions only</a:t>
            </a:r>
            <a:r>
              <a:rPr sz="1400" b="0">
                <a:solidFill>
                  <a:srgbClr val="1F4E9B"/>
                </a:solidFill>
                <a:latin typeface="Segoe UI"/>
              </a:rPr>
              <a:t>; a </a:t>
            </a:r>
            <a:r>
              <a:rPr sz="1400" b="1">
                <a:solidFill>
                  <a:srgbClr val="1F4E9B"/>
                </a:solidFill>
                <a:latin typeface="Segoe UI"/>
              </a:rPr>
              <a:t>person always decides</a:t>
            </a:r>
            <a:r>
              <a:rPr sz="1400" b="0">
                <a:solidFill>
                  <a:srgbClr val="1F4E9B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20574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6CDF2"/>
                </a:solidFill>
                <a:latin typeface="Segoe UI"/>
              </a:rPr>
              <a:t>THE RESEARCH BEHIND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468880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Three research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11880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DE7FA"/>
                </a:solidFill>
                <a:latin typeface="Segoe UI"/>
              </a:rPr>
              <a:t>1.  Why retention happens   ·   2.  Predicting dropout   ·   3.  Generating replies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D6E6"/>
                </a:solidFill>
                <a:latin typeface="Segoe UI"/>
              </a:rPr>
              <a:t>HOPE-MOVE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FD6E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9B"/>
                </a:solidFill>
                <a:latin typeface="Segoe UI"/>
              </a:rPr>
              <a:t>EVIDENCE BASE · COHORT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What keeps people engaged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2300844"/>
            <a:ext cx="6126480" cy="3262151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e_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00844"/>
            <a:ext cx="6126480" cy="3262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59752" y="2011680"/>
            <a:ext cx="4318711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50" b="1">
                <a:solidFill>
                  <a:srgbClr val="1F4E9B"/>
                </a:solidFill>
                <a:latin typeface="Segoe UI"/>
              </a:rPr>
              <a:t>•   2,411 participants</a:t>
            </a:r>
            <a:r>
              <a:rPr sz="1750" b="0">
                <a:solidFill>
                  <a:srgbClr val="3A3D42"/>
                </a:solidFill>
                <a:latin typeface="Segoe UI"/>
              </a:rPr>
              <a:t> across 7 health conditions.</a:t>
            </a:r>
          </a:p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5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750" b="0">
                <a:solidFill>
                  <a:srgbClr val="3A3D42"/>
                </a:solidFill>
                <a:latin typeface="Segoe UI"/>
              </a:rPr>
              <a:t>People who </a:t>
            </a:r>
            <a:r>
              <a:rPr sz="1750" b="1">
                <a:solidFill>
                  <a:srgbClr val="1F4E9B"/>
                </a:solidFill>
                <a:latin typeface="Segoe UI"/>
              </a:rPr>
              <a:t>write</a:t>
            </a:r>
            <a:r>
              <a:rPr sz="1750" b="0">
                <a:solidFill>
                  <a:srgbClr val="3A3D42"/>
                </a:solidFill>
                <a:latin typeface="Segoe UI"/>
              </a:rPr>
              <a:t> complete at </a:t>
            </a:r>
            <a:r>
              <a:rPr sz="1750" b="1">
                <a:solidFill>
                  <a:srgbClr val="1F4E9B"/>
                </a:solidFill>
                <a:latin typeface="Segoe UI"/>
              </a:rPr>
              <a:t>89%</a:t>
            </a:r>
            <a:r>
              <a:rPr sz="1750" b="0">
                <a:solidFill>
                  <a:srgbClr val="3A3D42"/>
                </a:solidFill>
                <a:latin typeface="Segoe UI"/>
              </a:rPr>
              <a:t> vs </a:t>
            </a:r>
            <a:r>
              <a:rPr sz="1750" b="1">
                <a:solidFill>
                  <a:srgbClr val="1F4E9B"/>
                </a:solidFill>
                <a:latin typeface="Segoe UI"/>
              </a:rPr>
              <a:t>48%</a:t>
            </a:r>
            <a:r>
              <a:rPr sz="1750" b="0">
                <a:solidFill>
                  <a:srgbClr val="3A3D42"/>
                </a:solidFill>
                <a:latin typeface="Segoe UI"/>
              </a:rPr>
              <a:t> who don't (about </a:t>
            </a:r>
            <a:r>
              <a:rPr sz="1750" b="1">
                <a:solidFill>
                  <a:srgbClr val="1F4E9B"/>
                </a:solidFill>
                <a:latin typeface="Segoe UI"/>
              </a:rPr>
              <a:t>9× the odds</a:t>
            </a:r>
            <a:r>
              <a:rPr sz="1750" b="0">
                <a:solidFill>
                  <a:srgbClr val="3A3D42"/>
                </a:solidFill>
                <a:latin typeface="Segoe UI"/>
              </a:rPr>
              <a:t>).</a:t>
            </a:r>
          </a:p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5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750" b="0">
                <a:solidFill>
                  <a:srgbClr val="3A3D42"/>
                </a:solidFill>
                <a:latin typeface="Segoe UI"/>
              </a:rPr>
              <a:t>More early activity → higher completion (a clear </a:t>
            </a:r>
            <a:r>
              <a:rPr sz="1750" b="1">
                <a:solidFill>
                  <a:srgbClr val="1F4E9B"/>
                </a:solidFill>
                <a:latin typeface="Segoe UI"/>
              </a:rPr>
              <a:t>dose-response</a:t>
            </a:r>
            <a:r>
              <a:rPr sz="1750" b="0">
                <a:solidFill>
                  <a:srgbClr val="3A3D42"/>
                </a:solidFill>
                <a:latin typeface="Segoe UI"/>
              </a:rPr>
              <a:t>).</a:t>
            </a:r>
          </a:p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5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750" b="0">
                <a:solidFill>
                  <a:srgbClr val="3A3D42"/>
                </a:solidFill>
                <a:latin typeface="Segoe UI"/>
              </a:rPr>
              <a:t>But </a:t>
            </a:r>
            <a:r>
              <a:rPr sz="1750" b="1">
                <a:solidFill>
                  <a:srgbClr val="1F4E9B"/>
                </a:solidFill>
                <a:latin typeface="Segoe UI"/>
              </a:rPr>
              <a:t>727 browsed and never wrote</a:t>
            </a:r>
            <a:r>
              <a:rPr sz="1750" b="0">
                <a:solidFill>
                  <a:srgbClr val="3A3D42"/>
                </a:solidFill>
                <a:latin typeface="Segoe UI"/>
              </a:rPr>
              <a:t>: exactly the gap we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6263640"/>
            <a:ext cx="43187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767C"/>
                </a:solidFill>
                <a:latin typeface="Segoe UI"/>
              </a:rPr>
              <a:t>Cohort study submitted to JMIR.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19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1F4E9B"/>
                </a:solidFill>
                <a:latin typeface="Segoe UI"/>
              </a:rPr>
              <a:t>EVIDENCE BASE · WHO TO SUPPORT FIRST</a:t>
            </a:r>
            <a:r>
              <a:rPr lang="en-US" sz="1250" b="1" dirty="0">
                <a:solidFill>
                  <a:srgbClr val="1F4E9B"/>
                </a:solidFill>
                <a:latin typeface="Segoe UI"/>
              </a:rPr>
              <a:t> BASED ON TEXT ENGAGEMENT</a:t>
            </a:r>
            <a:endParaRPr sz="1250" b="1" dirty="0">
              <a:solidFill>
                <a:srgbClr val="1F4E9B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Five engagement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42042" y="1920240"/>
            <a:ext cx="8507610" cy="3291840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042" y="1920240"/>
            <a:ext cx="850761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349240"/>
            <a:ext cx="1076523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65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650" b="0">
                <a:solidFill>
                  <a:srgbClr val="3A3D42"/>
                </a:solidFill>
                <a:latin typeface="Segoe UI"/>
              </a:rPr>
              <a:t>Drop-out ranges from </a:t>
            </a:r>
            <a:r>
              <a:rPr sz="1650" b="1">
                <a:solidFill>
                  <a:srgbClr val="1F4E9B"/>
                </a:solidFill>
                <a:latin typeface="Segoe UI"/>
              </a:rPr>
              <a:t>Disengaged (55%)</a:t>
            </a:r>
            <a:r>
              <a:rPr sz="1650" b="0">
                <a:solidFill>
                  <a:srgbClr val="3A3D42"/>
                </a:solidFill>
                <a:latin typeface="Segoe UI"/>
              </a:rPr>
              <a:t> down to </a:t>
            </a:r>
            <a:r>
              <a:rPr sz="1650" b="1">
                <a:solidFill>
                  <a:srgbClr val="1F4E9B"/>
                </a:solidFill>
                <a:latin typeface="Segoe UI"/>
              </a:rPr>
              <a:t>Deep (0.3%)</a:t>
            </a:r>
            <a:r>
              <a:rPr sz="1650" b="0">
                <a:solidFill>
                  <a:srgbClr val="3A3D42"/>
                </a:solidFill>
                <a:latin typeface="Segoe UI"/>
              </a:rPr>
              <a:t>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65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650" b="0">
                <a:solidFill>
                  <a:srgbClr val="3A3D42"/>
                </a:solidFill>
                <a:latin typeface="Segoe UI"/>
              </a:rPr>
              <a:t>The </a:t>
            </a:r>
            <a:r>
              <a:rPr sz="1650" b="1">
                <a:solidFill>
                  <a:srgbClr val="1F4E9B"/>
                </a:solidFill>
                <a:latin typeface="Segoe UI"/>
              </a:rPr>
              <a:t>'Light' group</a:t>
            </a:r>
            <a:r>
              <a:rPr sz="1650" b="0">
                <a:solidFill>
                  <a:srgbClr val="3A3D42"/>
                </a:solidFill>
                <a:latin typeface="Segoe UI"/>
              </a:rPr>
              <a:t> (browses but barely writes) is the </a:t>
            </a:r>
            <a:r>
              <a:rPr sz="1650" b="1">
                <a:solidFill>
                  <a:srgbClr val="1F4E9B"/>
                </a:solidFill>
                <a:latin typeface="Segoe UI"/>
              </a:rPr>
              <a:t>early-support target</a:t>
            </a:r>
            <a:r>
              <a:rPr sz="1650" b="0">
                <a:solidFill>
                  <a:srgbClr val="3A3D42"/>
                </a:solidFill>
                <a:latin typeface="Segoe UI"/>
              </a:rPr>
              <a:t> the dashboard surfaces.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9B"/>
                </a:solidFill>
                <a:latin typeface="Segoe UI"/>
              </a:rPr>
              <a:t>RISK ENGINE ·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Choosing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2454228"/>
            <a:ext cx="6355079" cy="2772503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l_cold_star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54228"/>
            <a:ext cx="6355079" cy="27725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34072" y="2011680"/>
            <a:ext cx="4044391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300"/>
              </a:spcAft>
            </a:pPr>
            <a:r>
              <a:rPr sz="1550" b="1" dirty="0">
                <a:solidFill>
                  <a:srgbClr val="1F4E9B"/>
                </a:solidFill>
                <a:latin typeface="Segoe UI"/>
              </a:rPr>
              <a:t>•   Seven model families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 compared (LR, RF, </a:t>
            </a:r>
            <a:r>
              <a:rPr sz="1550" b="0" dirty="0" err="1">
                <a:solidFill>
                  <a:srgbClr val="3A3D42"/>
                </a:solidFill>
                <a:latin typeface="Segoe UI"/>
              </a:rPr>
              <a:t>XGBoost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, </a:t>
            </a:r>
            <a:r>
              <a:rPr sz="1550" b="0" dirty="0" err="1">
                <a:solidFill>
                  <a:srgbClr val="3A3D42"/>
                </a:solidFill>
                <a:latin typeface="Segoe UI"/>
              </a:rPr>
              <a:t>LightGBM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, </a:t>
            </a:r>
            <a:r>
              <a:rPr sz="1550" b="0" dirty="0" err="1">
                <a:solidFill>
                  <a:srgbClr val="3A3D42"/>
                </a:solidFill>
                <a:latin typeface="Segoe UI"/>
              </a:rPr>
              <a:t>CatBoost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, GRU, MLP).</a:t>
            </a:r>
          </a:p>
          <a:p>
            <a:pPr>
              <a:lnSpc>
                <a:spcPct val="113000"/>
              </a:lnSpc>
              <a:spcAft>
                <a:spcPts val="1300"/>
              </a:spcAft>
            </a:pPr>
            <a:r>
              <a:rPr sz="1550" b="1" dirty="0">
                <a:solidFill>
                  <a:srgbClr val="1F4E9B"/>
                </a:solidFill>
                <a:latin typeface="Segoe UI"/>
              </a:rPr>
              <a:t>•   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Tested </a:t>
            </a:r>
            <a:r>
              <a:rPr sz="1550" b="1" dirty="0">
                <a:solidFill>
                  <a:srgbClr val="1F4E9B"/>
                </a:solidFill>
                <a:latin typeface="Segoe UI"/>
              </a:rPr>
              <a:t>cold-start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: held out whole courses (LOCO) and modules (LOMO) the model never saw.</a:t>
            </a:r>
          </a:p>
          <a:p>
            <a:pPr>
              <a:lnSpc>
                <a:spcPct val="113000"/>
              </a:lnSpc>
              <a:spcAft>
                <a:spcPts val="1300"/>
              </a:spcAft>
            </a:pPr>
            <a:r>
              <a:rPr sz="1550" b="1" dirty="0">
                <a:solidFill>
                  <a:srgbClr val="1F4E9B"/>
                </a:solidFill>
                <a:latin typeface="Segoe UI"/>
              </a:rPr>
              <a:t>•   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The top models are </a:t>
            </a:r>
            <a:r>
              <a:rPr sz="1550" b="1" dirty="0">
                <a:solidFill>
                  <a:srgbClr val="1F4E9B"/>
                </a:solidFill>
                <a:latin typeface="Segoe UI"/>
              </a:rPr>
              <a:t>statistically tied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 (~0.95 AUC); overlap alone can't separate them.</a:t>
            </a:r>
          </a:p>
          <a:p>
            <a:pPr>
              <a:lnSpc>
                <a:spcPct val="113000"/>
              </a:lnSpc>
              <a:spcAft>
                <a:spcPts val="1300"/>
              </a:spcAft>
            </a:pPr>
            <a:r>
              <a:rPr sz="1550" b="1" dirty="0">
                <a:solidFill>
                  <a:srgbClr val="1F4E9B"/>
                </a:solidFill>
                <a:latin typeface="Segoe UI"/>
              </a:rPr>
              <a:t>•   Random Forest</a:t>
            </a:r>
            <a:r>
              <a:rPr sz="1550" b="0" dirty="0">
                <a:solidFill>
                  <a:srgbClr val="3A3D42"/>
                </a:solidFill>
                <a:latin typeface="Segoe UI"/>
              </a:rPr>
              <a:t> deployed for its robustness, calibration, and interpretability.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43600"/>
            <a:ext cx="7541768" cy="1844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3767C"/>
                </a:solidFill>
                <a:latin typeface="Segoe UI"/>
              </a:rPr>
              <a:t>Cold-start AUC across held-out courses (LOCO) and modules (LOMO); the boxes overlap heavily.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9B"/>
                </a:solidFill>
                <a:latin typeface="Segoe UI"/>
              </a:rPr>
              <a:t>RISK ENGINE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Predicting dropout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2123075"/>
            <a:ext cx="6126480" cy="3617690"/>
          </a:xfrm>
          <a:prstGeom prst="rect">
            <a:avLst/>
          </a:prstGeom>
          <a:noFill/>
          <a:ln w="12700">
            <a:solidFill>
              <a:srgbClr val="E3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l_horiz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23075"/>
            <a:ext cx="6126480" cy="3617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59752" y="2011680"/>
            <a:ext cx="4318711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00" b="1">
                <a:solidFill>
                  <a:srgbClr val="1F4E9B"/>
                </a:solidFill>
                <a:latin typeface="Segoe UI"/>
              </a:rPr>
              <a:t>•   AUC 0.93 at week 1</a:t>
            </a:r>
            <a:r>
              <a:rPr sz="1700" b="0">
                <a:solidFill>
                  <a:srgbClr val="3A3D42"/>
                </a:solidFill>
                <a:latin typeface="Segoe UI"/>
              </a:rPr>
              <a:t>, rising to ~</a:t>
            </a:r>
            <a:r>
              <a:rPr sz="1700" b="1">
                <a:solidFill>
                  <a:srgbClr val="1F4E9B"/>
                </a:solidFill>
                <a:latin typeface="Segoe UI"/>
              </a:rPr>
              <a:t>0.95</a:t>
            </a:r>
            <a:r>
              <a:rPr sz="1700" b="0">
                <a:solidFill>
                  <a:srgbClr val="3A3D42"/>
                </a:solidFill>
                <a:latin typeface="Segoe UI"/>
              </a:rPr>
              <a:t>, catching dropout early.</a:t>
            </a:r>
          </a:p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0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700" b="0">
                <a:solidFill>
                  <a:srgbClr val="3A3D42"/>
                </a:solidFill>
                <a:latin typeface="Segoe UI"/>
              </a:rPr>
              <a:t>Stable across the </a:t>
            </a:r>
            <a:r>
              <a:rPr sz="1700" b="1">
                <a:solidFill>
                  <a:srgbClr val="1F4E9B"/>
                </a:solidFill>
                <a:latin typeface="Segoe UI"/>
              </a:rPr>
              <a:t>6-week</a:t>
            </a:r>
            <a:r>
              <a:rPr sz="1700" b="0">
                <a:solidFill>
                  <a:srgbClr val="3A3D42"/>
                </a:solidFill>
                <a:latin typeface="Segoe UI"/>
              </a:rPr>
              <a:t> programme (a model per weekly horizon).</a:t>
            </a:r>
          </a:p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0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700" b="0">
                <a:solidFill>
                  <a:srgbClr val="3A3D42"/>
                </a:solidFill>
                <a:latin typeface="Segoe UI"/>
              </a:rPr>
              <a:t>Validated on </a:t>
            </a:r>
            <a:r>
              <a:rPr sz="1700" b="1">
                <a:solidFill>
                  <a:srgbClr val="1F4E9B"/>
                </a:solidFill>
                <a:latin typeface="Segoe UI"/>
              </a:rPr>
              <a:t>unseen courses and modules</a:t>
            </a:r>
            <a:r>
              <a:rPr sz="1700" b="0">
                <a:solidFill>
                  <a:srgbClr val="3A3D42"/>
                </a:solidFill>
                <a:latin typeface="Segoe UI"/>
              </a:rPr>
              <a:t> (cold-start ≈ 0.95).</a:t>
            </a:r>
          </a:p>
          <a:p>
            <a:pPr>
              <a:lnSpc>
                <a:spcPct val="113000"/>
              </a:lnSpc>
              <a:spcAft>
                <a:spcPts val="1400"/>
              </a:spcAft>
            </a:pPr>
            <a:r>
              <a:rPr sz="1700" b="1">
                <a:solidFill>
                  <a:srgbClr val="1F4E9B"/>
                </a:solidFill>
                <a:latin typeface="Segoe UI"/>
              </a:rPr>
              <a:t>•   </a:t>
            </a:r>
            <a:r>
              <a:rPr sz="1700" b="0">
                <a:solidFill>
                  <a:srgbClr val="3A3D42"/>
                </a:solidFill>
                <a:latin typeface="Segoe UI"/>
              </a:rPr>
              <a:t>Tuned for </a:t>
            </a:r>
            <a:r>
              <a:rPr sz="1700" b="1">
                <a:solidFill>
                  <a:srgbClr val="1F4E9B"/>
                </a:solidFill>
                <a:latin typeface="Segoe UI"/>
              </a:rPr>
              <a:t>high recall (≥90%)</a:t>
            </a:r>
            <a:r>
              <a:rPr sz="1700" b="0">
                <a:solidFill>
                  <a:srgbClr val="3A3D42"/>
                </a:solidFill>
                <a:latin typeface="Segoe UI"/>
              </a:rPr>
              <a:t>, so few at-risk people are missed.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6263640"/>
            <a:ext cx="43187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767C"/>
                </a:solidFill>
                <a:latin typeface="Segoe UI"/>
              </a:rPr>
              <a:t>Submitted to J. of Biomedical Informatics.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10765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9B"/>
                </a:solidFill>
                <a:latin typeface="Segoe UI"/>
              </a:rPr>
              <a:t>DRAFTING ENGINE · SMALL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1F"/>
                </a:solidFill>
                <a:latin typeface="Segoe UI"/>
              </a:rPr>
              <a:t>Drafting replies that sound like Hope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566928" cy="406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874519"/>
          <a:ext cx="63093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42632" y="1828800"/>
            <a:ext cx="4135831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>
                <a:solidFill>
                  <a:srgbClr val="1F4E9B"/>
                </a:solidFill>
                <a:latin typeface="Segoe UI"/>
              </a:rPr>
              <a:t>•   8 open models</a:t>
            </a:r>
            <a:r>
              <a:rPr sz="1500" b="0">
                <a:solidFill>
                  <a:srgbClr val="3A3D42"/>
                </a:solidFill>
                <a:latin typeface="Segoe UI"/>
              </a:rPr>
              <a:t> fine-tuned with </a:t>
            </a:r>
            <a:r>
              <a:rPr sz="1500" b="1">
                <a:solidFill>
                  <a:srgbClr val="1F4E9B"/>
                </a:solidFill>
                <a:latin typeface="Segoe UI"/>
              </a:rPr>
              <a:t>QDoRA</a:t>
            </a:r>
            <a:r>
              <a:rPr sz="1500" b="0">
                <a:solidFill>
                  <a:srgbClr val="3A3D42"/>
                </a:solidFill>
                <a:latin typeface="Segoe UI"/>
              </a:rPr>
              <a:t> on </a:t>
            </a:r>
            <a:r>
              <a:rPr sz="1500" b="1">
                <a:solidFill>
                  <a:srgbClr val="1F4E9B"/>
                </a:solidFill>
                <a:latin typeface="Segoe UI"/>
              </a:rPr>
              <a:t>3,900+ real Hope (post→reply) pairs</a:t>
            </a:r>
            <a:r>
              <a:rPr sz="1500" b="0">
                <a:solidFill>
                  <a:srgbClr val="3A3D42"/>
                </a:solidFill>
                <a:latin typeface="Segoe UI"/>
              </a:rPr>
              <a:t>: programme data only, no synthetic augmentation.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>
                <a:solidFill>
                  <a:srgbClr val="1F4E9B"/>
                </a:solidFill>
                <a:latin typeface="Segoe UI"/>
              </a:rPr>
              <a:t>•   Qwen3.5-4B</a:t>
            </a:r>
            <a:r>
              <a:rPr sz="1500" b="0">
                <a:solidFill>
                  <a:srgbClr val="3A3D42"/>
                </a:solidFill>
                <a:latin typeface="Segoe UI"/>
              </a:rPr>
              <a:t> is the deployed default: top BERTScore (0.873).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>
                <a:solidFill>
                  <a:srgbClr val="1F4E9B"/>
                </a:solidFill>
                <a:latin typeface="Segoe UI"/>
              </a:rPr>
              <a:t>•   Qwen3-4B</a:t>
            </a:r>
            <a:r>
              <a:rPr sz="1500" b="0">
                <a:solidFill>
                  <a:srgbClr val="3A3D42"/>
                </a:solidFill>
                <a:latin typeface="Segoe UI"/>
              </a:rPr>
              <a:t> ties it within noise (~</a:t>
            </a:r>
            <a:r>
              <a:rPr sz="1500" b="1">
                <a:solidFill>
                  <a:srgbClr val="1F4E9B"/>
                </a:solidFill>
                <a:latin typeface="Segoe UI"/>
              </a:rPr>
              <a:t>0.002</a:t>
            </a:r>
            <a:r>
              <a:rPr sz="1500" b="0">
                <a:solidFill>
                  <a:srgbClr val="3A3D42"/>
                </a:solidFill>
                <a:latin typeface="Segoe UI"/>
              </a:rPr>
              <a:t>) and has the </a:t>
            </a:r>
            <a:r>
              <a:rPr sz="1500" b="1">
                <a:solidFill>
                  <a:srgbClr val="1F4E9B"/>
                </a:solidFill>
                <a:latin typeface="Segoe UI"/>
              </a:rPr>
              <a:t>best GoalSetting fidelity</a:t>
            </a:r>
            <a:r>
              <a:rPr sz="1500" b="0">
                <a:solidFill>
                  <a:srgbClr val="3A3D42"/>
                </a:solidFill>
                <a:latin typeface="Segoe UI"/>
              </a:rPr>
              <a:t>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>
                <a:solidFill>
                  <a:srgbClr val="1F4E9B"/>
                </a:solidFill>
                <a:latin typeface="Segoe UI"/>
              </a:rPr>
              <a:t>•   Safety layer:</a:t>
            </a:r>
            <a:r>
              <a:rPr sz="1500" b="0">
                <a:solidFill>
                  <a:srgbClr val="3A3D42"/>
                </a:solidFill>
                <a:latin typeface="Segoe UI"/>
              </a:rPr>
              <a:t> crisis → MI policy → UK signposting · </a:t>
            </a:r>
            <a:r>
              <a:rPr sz="1500" b="1">
                <a:solidFill>
                  <a:srgbClr val="1F4E9B"/>
                </a:solidFill>
                <a:latin typeface="Segoe UI"/>
              </a:rPr>
              <a:t>human feedback</a:t>
            </a:r>
            <a:r>
              <a:rPr sz="1500" b="0">
                <a:solidFill>
                  <a:srgbClr val="3A3D42"/>
                </a:solidFill>
                <a:latin typeface="Segoe UI"/>
              </a:rPr>
              <a:t>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03504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3767C"/>
                </a:solidFill>
                <a:latin typeface="Segoe UI"/>
              </a:rPr>
              <a:t>Also benchmarked on the activities sweep (n=771): SmolLM3-3B and Llama-3.2-3B as cross-family references. Both tables are in the NLP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71A1F"/>
                </a:solidFill>
                <a:latin typeface="Segoe U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8647" y="3108960"/>
            <a:ext cx="914400" cy="4445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3383280"/>
            <a:ext cx="92656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73767C"/>
                </a:solidFill>
                <a:latin typeface="Segoe UI"/>
              </a:rPr>
              <a:t>HOPE-MOVE: AI to help facilitators keep people engaged and supported.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29768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3767C"/>
                </a:solidFill>
                <a:latin typeface="Segoe UI"/>
              </a:rPr>
              <a:t>Michael Ajao-Olarinoye  ·  Coventry University  ·  funded by Innovate UK</a:t>
            </a:r>
          </a:p>
        </p:txBody>
      </p:sp>
      <p:pic>
        <p:nvPicPr>
          <p:cNvPr id="6" name="Picture 5" descr="logo-innovate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32" y="5257800"/>
            <a:ext cx="1703671" cy="548640"/>
          </a:xfrm>
          <a:prstGeom prst="rect">
            <a:avLst/>
          </a:prstGeom>
        </p:spPr>
      </p:pic>
      <p:pic>
        <p:nvPicPr>
          <p:cNvPr id="7" name="Picture 6" descr="logo-h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371" y="5257800"/>
            <a:ext cx="1297208" cy="548640"/>
          </a:xfrm>
          <a:prstGeom prst="rect">
            <a:avLst/>
          </a:prstGeom>
        </p:spPr>
      </p:pic>
      <p:pic>
        <p:nvPicPr>
          <p:cNvPr id="8" name="Picture 7" descr="logo-coven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947" y="5257800"/>
            <a:ext cx="1925415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2B4B7"/>
                </a:solidFill>
                <a:latin typeface="Segoe UI"/>
              </a:rPr>
              <a:t>HOPE-MOVE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B4B7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Ajao-Olarinoye</cp:lastModifiedBy>
  <cp:revision>7</cp:revision>
  <dcterms:created xsi:type="dcterms:W3CDTF">2013-01-27T09:14:16Z</dcterms:created>
  <dcterms:modified xsi:type="dcterms:W3CDTF">2026-06-17T03:59:55Z</dcterms:modified>
  <cp:category/>
</cp:coreProperties>
</file>